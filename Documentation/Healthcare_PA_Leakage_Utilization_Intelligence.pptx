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3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62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2495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840480"/>
            <a:ext cx="3840480" cy="3840480"/>
          </a:xfrm>
          <a:prstGeom prst="ellipse">
            <a:avLst/>
          </a:prstGeom>
          <a:solidFill>
            <a:srgbClr val="134857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12495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Prior Authorization Leakage &amp; Utilization Intelligence Platform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payer claims and utilization data into actionable prior-authorization insights using MySQL, ETL, and Power BI.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Kumaresan 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analytics platform that tracks prior-authorization requests, approvals, denials, and downstream utilization leakage for a healthcare payer.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1C7C72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claims and authorization data in MySQL, transform it through an ETL pipeline, and surface it through interactive Power BI dashboards.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0" y="269748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decision-ready dashboard suite that helps operations and clinical review teams reduce leakage, speed up turnaround time, and control avoidable utilization.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payers process large volumes of prior-authorization (PA) requests before approving procedures, drugs, or services.
Manual review, fragmented data, and inconsistent policy application create delays, denials, and revenue leakage across the utilization lifecycle.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0E3B4D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2468880"/>
            <a:ext cx="109728" cy="109728"/>
          </a:xfrm>
          <a:prstGeom prst="ellipse">
            <a:avLst/>
          </a:prstGeom>
          <a:solidFill>
            <a:srgbClr val="D98E38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3500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PA volume, approval rate, and turnaround 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3218688"/>
            <a:ext cx="109728" cy="109728"/>
          </a:xfrm>
          <a:prstGeom prst="ellipse">
            <a:avLst/>
          </a:prstGeom>
          <a:solidFill>
            <a:srgbClr val="D98E38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30998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from denied, delayed, or bypassed authorizations is hard to quantify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3968496"/>
            <a:ext cx="109728" cy="109728"/>
          </a:xfrm>
          <a:prstGeom prst="ellipse">
            <a:avLst/>
          </a:prstGeom>
          <a:solidFill>
            <a:srgbClr val="D98E38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8496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patterns by provider, procedure, and region stay hidden in raw claims tables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4718304"/>
            <a:ext cx="109728" cy="109728"/>
          </a:xfrm>
          <a:prstGeom prst="ellipse">
            <a:avLst/>
          </a:prstGeom>
          <a:solidFill>
            <a:srgbClr val="D98E38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4599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lack a self-service dashboard to monitor SLAs and cost impact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for storing claims, authorization, and provider 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93392"/>
            <a:ext cx="457200" cy="45720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/ ETL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clean, and transform raw tables into an analysis-ready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993392"/>
            <a:ext cx="457200" cy="45720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5256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514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DAX measures, and interactive dashboard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for approval rate, leakage %, and turnaround KPIs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6118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867912"/>
            <a:ext cx="457200" cy="45720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389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Publishing, refresh scheduling, and dashboard sharing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6118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867912"/>
            <a:ext cx="457200" cy="45720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2560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389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scripts, documentation, and project artifacts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Introduction &amp;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/ payer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900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9900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Providers, Procedures, PA Requests, Claims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570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35570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prior-authorization request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1239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41239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historical authorization records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690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4690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tables loaded into 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0E3B4D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4231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healthcare prior-authorization and claims dataset, structured to reflect real-world payer data — covering member demographics, provider details, procedure codes, request status, and turnaround timestamps.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4160520"/>
            <a:ext cx="4754880" cy="0"/>
          </a:xfrm>
          <a:prstGeom prst="line">
            <a:avLst/>
          </a:prstGeom>
          <a:noFill/>
          <a:ln w="12700">
            <a:solidFill>
              <a:srgbClr val="2E5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617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•  providers  •  procedures  •  prior_auth_requests  •  claims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Database &amp;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7335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67335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member_id, age, gender, plan_type, region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597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45973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provider_id, specialty, network_status, region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2461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procedure_code, category, avg_cost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507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prior_auth_requests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403250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auth_id, member_id, provider_id, procedure_code, status, request_date, decision_date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18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481888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claim_id, auth_id, billed_amount, paid_amount, claim_status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linked through primary/foreign keys — auth_id and member_id join requests to claims and demographics for unified analysis.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MySQL with Power BI &amp; Loading to ETL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194560"/>
            <a:ext cx="548640" cy="5486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to MySQL via the native MySQL database connector using host, port, and credentials.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3420" y="2194560"/>
            <a:ext cx="548640" cy="5486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4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imported into Power Query as the ETL staging layer for transformation.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83780" y="2194560"/>
            <a:ext cx="548640" cy="5486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8" name="Text 16"/>
          <p:cNvSpPr/>
          <p:nvPr/>
        </p:nvSpPr>
        <p:spPr>
          <a:xfrm>
            <a:off x="73837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Load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clean, merge, and reshape data before loading into the Power BI data model.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89720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64140" y="2194560"/>
            <a:ext cx="548640" cy="5486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24" name="Text 22"/>
          <p:cNvSpPr/>
          <p:nvPr/>
        </p:nvSpPr>
        <p:spPr>
          <a:xfrm>
            <a:off x="102641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260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18320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style model with fact (requests, claims) and dimension (members, providers, procedures) tables.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Basic DAX Measures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authorization records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044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status labels (Approved / Denied / Pending)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6667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6667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nulls in decision_date and paid_amount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288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2885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for dates and numeric fields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9103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9103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procedure codes to readable categories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E3B4D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Authorizations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2606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E6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Authorizations],'Authorizations'[Authorization_Status] = "APPROVED")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29400" y="31821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34564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E6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DIVIDE([Approved Authorizations], [Total Authorizations], 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29400" y="40325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 Amount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43068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E6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SUM('Claims'[Billed_Amount])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48828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29400" y="51572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E6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DIVIDE([Mismatched Claims], [Total Claims], 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— Pages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KPIs: total requests, approval rate, leakage %, turnaround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93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trends by procedure category, provider specialty, and region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50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Drill-Down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and delayed authorizations broken down by cause and cost impact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050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Performance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634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Provider-level approval rates, TAT, and network comparison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63637" y="1545336"/>
            <a:ext cx="8834247" cy="4773168"/>
          </a:xfrm>
          <a:prstGeom prst="roundRect">
            <a:avLst>
              <a:gd name="adj" fmla="val 958"/>
            </a:avLst>
          </a:prstGeom>
          <a:solidFill>
            <a:srgbClr val="0E3B4D"/>
          </a:solidFill>
          <a:ln/>
          <a:effectLst>
            <a:outerShdw blurRad="127000" dist="38100" dir="5400000" algn="bl" rotWithShape="0">
              <a:srgbClr val="1A2733">
                <a:alpha val="18000"/>
              </a:srgbClr>
            </a:outerShdw>
          </a:effectLst>
        </p:spPr>
      </p:sp>
      <p:pic>
        <p:nvPicPr>
          <p:cNvPr id="5" name="Image 0" descr="/mnt/user-data/uploads/Executive_Overview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501" y="1600200"/>
            <a:ext cx="8724519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 Leakage Analysis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70672" y="1545336"/>
            <a:ext cx="8820176" cy="4773168"/>
          </a:xfrm>
          <a:prstGeom prst="roundRect">
            <a:avLst>
              <a:gd name="adj" fmla="val 958"/>
            </a:avLst>
          </a:prstGeom>
          <a:solidFill>
            <a:srgbClr val="0E3B4D"/>
          </a:solidFill>
          <a:ln/>
          <a:effectLst>
            <a:outerShdw blurRad="127000" dist="38100" dir="5400000" algn="bl" rotWithShape="0">
              <a:srgbClr val="1A2733">
                <a:alpha val="18000"/>
              </a:srgbClr>
            </a:outerShdw>
          </a:effectLst>
        </p:spPr>
      </p:sp>
      <p:pic>
        <p:nvPicPr>
          <p:cNvPr id="5" name="Image 0" descr="/mnt/user-data/uploads/Investigation___Leakage_Analysi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536" y="1600200"/>
            <a:ext cx="8710448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 &amp; Filters/Slicers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 Used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78024"/>
            <a:ext cx="91440" cy="914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0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total requests, approval rate, leakage 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026664"/>
            <a:ext cx="91440" cy="914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98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 chart — requests &amp; approvals over 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75304"/>
            <a:ext cx="91440" cy="914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472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 — status by procedure category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123944"/>
            <a:ext cx="91440" cy="914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95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denial reasons breakdown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672584"/>
            <a:ext cx="91440" cy="914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445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table — provider-level performance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221224"/>
            <a:ext cx="91440" cy="91440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0932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 — regional utilization distribution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86600" y="169164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0E3B4D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242316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34857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2423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3044952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34857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30449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3666744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34857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36667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specialty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06640" y="4288536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34857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4288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category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4910328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34857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49103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status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Project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subset of specialties account for a disproportionate share of authorization leakage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 is a leading indicator of downstream denial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40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 in approval rates points to inconsistent policy 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54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procedure categories show consistently higher leakage percentage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205740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2057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47104" y="2441448"/>
            <a:ext cx="0" cy="256032"/>
          </a:xfrm>
          <a:prstGeom prst="line">
            <a:avLst/>
          </a:prstGeom>
          <a:noFill/>
          <a:ln w="19050">
            <a:solidFill>
              <a:srgbClr val="1C7C7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355080" y="269748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6974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setup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47104" y="3081528"/>
            <a:ext cx="0" cy="256032"/>
          </a:xfrm>
          <a:prstGeom prst="line">
            <a:avLst/>
          </a:prstGeom>
          <a:noFill/>
          <a:ln w="19050">
            <a:solidFill>
              <a:srgbClr val="1C7C7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55080" y="333756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cleaning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47104" y="3721608"/>
            <a:ext cx="0" cy="256032"/>
          </a:xfrm>
          <a:prstGeom prst="line">
            <a:avLst/>
          </a:prstGeom>
          <a:noFill/>
          <a:ln w="19050">
            <a:solidFill>
              <a:srgbClr val="1C7C7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355080" y="397764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47104" y="4361688"/>
            <a:ext cx="0" cy="256032"/>
          </a:xfrm>
          <a:prstGeom prst="line">
            <a:avLst/>
          </a:prstGeom>
          <a:noFill/>
          <a:ln w="19050">
            <a:solidFill>
              <a:srgbClr val="1C7C7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355080" y="461772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4617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47104" y="5001768"/>
            <a:ext cx="0" cy="256032"/>
          </a:xfrm>
          <a:prstGeom prst="line">
            <a:avLst/>
          </a:prstGeom>
          <a:noFill/>
          <a:ln w="19050">
            <a:solidFill>
              <a:srgbClr val="1C7C7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355080" y="525780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52578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47104" y="5641848"/>
            <a:ext cx="0" cy="256032"/>
          </a:xfrm>
          <a:prstGeom prst="line">
            <a:avLst/>
          </a:prstGeom>
          <a:noFill/>
          <a:ln w="19050">
            <a:solidFill>
              <a:srgbClr val="1C7C7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355080" y="5897880"/>
            <a:ext cx="384048" cy="384048"/>
          </a:xfrm>
          <a:prstGeom prst="ellipse">
            <a:avLst/>
          </a:prstGeom>
          <a:solidFill>
            <a:srgbClr val="1C7C72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5897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5897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review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0104120" y="2057400"/>
            <a:ext cx="1554480" cy="3977640"/>
          </a:xfrm>
          <a:prstGeom prst="roundRect">
            <a:avLst>
              <a:gd name="adj" fmla="val 4706"/>
            </a:avLst>
          </a:prstGeom>
          <a:solidFill>
            <a:srgbClr val="E6F1E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2286000"/>
            <a:ext cx="1280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claims to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 in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2495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DOCUMENTATION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7863840" cy="2651760"/>
          </a:xfrm>
          <a:prstGeom prst="roundRect">
            <a:avLst>
              <a:gd name="adj" fmla="val 2759"/>
            </a:avLst>
          </a:prstGeom>
          <a:solidFill>
            <a:srgbClr val="0F4552"/>
          </a:solidFill>
          <a:ln w="12700">
            <a:solidFill>
              <a:srgbClr val="1F5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3291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and table-creation scripts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124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7124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 steps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133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DAX/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41330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definitions used in the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553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55371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.pbix file and screenshots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9743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97433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setup, and findings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Leakage &amp; Utilization Intelligence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1096</Words>
  <Application>Microsoft Office PowerPoint</Application>
  <PresentationFormat>Widescreen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Kumaresan V</cp:lastModifiedBy>
  <cp:revision>1</cp:revision>
  <dcterms:created xsi:type="dcterms:W3CDTF">2026-08-25T20:16:00Z</dcterms:created>
  <dcterms:modified xsi:type="dcterms:W3CDTF">2026-08-25T20:19:17Z</dcterms:modified>
</cp:coreProperties>
</file>